
<file path=[Content_Types].xml><?xml version="1.0" encoding="utf-8"?>
<Types xmlns="http://schemas.openxmlformats.org/package/2006/content-types">
  <Default Extension="PhpPresentationReaderPpt2007BkgCfHGcm" ContentType="application/octet-stream"/>
  <Default Extension="PhpPresentationReaderPpt2007BkgCfnepm" ContentType="application/octet-stream"/>
  <Default Extension="PhpPresentationReaderPpt2007BkgFDdgim" ContentType="application/octet-stream"/>
  <Default Extension="PhpPresentationReaderPpt2007BkgfMpEkm" ContentType="application/octet-stream"/>
  <Default Extension="PhpPresentationReaderPpt2007BkggfKbEn" ContentType="application/octet-stream"/>
  <Default Extension="PhpPresentationReaderPpt2007BkghFknJn" ContentType="application/octet-stream"/>
  <Default Extension="PhpPresentationReaderPpt2007BkgknHPCn" ContentType="application/octet-stream"/>
  <Default Extension="PhpPresentationReaderPpt2007BkgmeDOHn" ContentType="application/octet-stream"/>
  <Default Extension="PhpPresentationReaderPpt2007Bkgnaglgm" ContentType="application/octet-stream"/>
  <Default Extension="PhpPresentationReaderPpt2007BkgpPEdmm" ContentType="application/octet-stream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138" d="100"/>
          <a:sy n="138" d="100"/>
        </p:scale>
        <p:origin x="87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hpPresentationReaderPpt2007BkgCfHGcm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hpPresentationReaderPpt2007Bkgnaglgm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hpPresentationReaderPpt2007BkgFDdgim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hpPresentationReaderPpt2007BkgfMpEkm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hpPresentationReaderPpt2007BkgpPEdmm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hpPresentationReaderPpt2007BkgCfnepm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hpPresentationReaderPpt2007BkgknHPC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hpPresentationReaderPpt2007BkggfKbE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hpPresentationReaderPpt2007BkgmeDOHn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hpPresentationReaderPpt2007BkghFknJ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hpPresentationReaderPpt2007BkgfMpEkm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hpPresentationReaderPpt2007BkgCfnepm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AND_BOD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_3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_1_1_3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_1_3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1_1_2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413704393" r:id="rId1"/>
    <p:sldLayoutId id="2413704394" r:id="rId2"/>
    <p:sldLayoutId id="2413704395" r:id="rId3"/>
    <p:sldLayoutId id="2413704396" r:id="rId4"/>
    <p:sldLayoutId id="2413704397" r:id="rId5"/>
    <p:sldLayoutId id="2413704398" r:id="rId6"/>
    <p:sldLayoutId id="2413704399" r:id="rId7"/>
    <p:sldLayoutId id="2413704400" r:id="rId8"/>
    <p:sldLayoutId id="2413704401" r:id="rId9"/>
    <p:sldLayoutId id="2413704402" r:id="rId10"/>
    <p:sldLayoutId id="2413704403" r:id="rId11"/>
    <p:sldLayoutId id="2413704404" r:id="rId12"/>
  </p:sldLayoutIdLst>
  <p:txStyles>
    <p:titleStyle>
      <a:defPPr algn="l">
        <a:defRPr kern="1200"/>
      </a:defPPr>
      <a:lvl1pPr algn="l">
        <a:defRPr sz="1400" kern="1200"/>
      </a:lvl1pPr>
      <a:lvl2pPr algn="l">
        <a:defRPr sz="1400" kern="1200"/>
      </a:lvl2pPr>
      <a:lvl3pPr algn="l">
        <a:defRPr sz="1400" kern="1200"/>
      </a:lvl3pPr>
      <a:lvl4pPr algn="l">
        <a:defRPr sz="1400" kern="1200"/>
      </a:lvl4pPr>
      <a:lvl5pPr algn="l">
        <a:defRPr sz="1400" kern="1200"/>
      </a:lvl5pPr>
      <a:lvl6pPr algn="l">
        <a:defRPr sz="1400" kern="1200"/>
      </a:lvl6pPr>
      <a:lvl7pPr algn="l">
        <a:defRPr sz="1400" kern="1200"/>
      </a:lvl7pPr>
      <a:lvl8pPr algn="l">
        <a:defRPr sz="1400" kern="1200"/>
      </a:lvl8pPr>
      <a:lvl9pPr algn="l">
        <a:defRPr sz="1400" kern="1200"/>
      </a:lvl9pPr>
      <a:extLst/>
    </p:titleStyle>
    <p:bodyStyle>
      <a:defPPr algn="l">
        <a:defRPr kern="1200"/>
      </a:defPPr>
      <a:lvl1pPr algn="l">
        <a:defRPr sz="1400" kern="1200"/>
      </a:lvl1pPr>
      <a:lvl2pPr algn="l">
        <a:defRPr sz="1400" kern="1200"/>
      </a:lvl2pPr>
      <a:lvl3pPr algn="l">
        <a:defRPr sz="1400" kern="1200"/>
      </a:lvl3pPr>
      <a:lvl4pPr algn="l">
        <a:defRPr sz="1400" kern="1200"/>
      </a:lvl4pPr>
      <a:lvl5pPr algn="l">
        <a:defRPr sz="1400" kern="1200"/>
      </a:lvl5pPr>
      <a:lvl6pPr algn="l">
        <a:defRPr sz="1400" kern="1200"/>
      </a:lvl6pPr>
      <a:lvl7pPr algn="l">
        <a:defRPr sz="1400" kern="1200"/>
      </a:lvl7pPr>
      <a:lvl8pPr algn="l">
        <a:defRPr sz="1400" kern="1200"/>
      </a:lvl8pPr>
      <a:lvl9pPr algn="l">
        <a:defRPr sz="1400" kern="1200"/>
      </a:lvl9pPr>
      <a:extLst/>
    </p:bodyStyle>
    <p:otherStyle>
      <a:defPPr algn="l">
        <a:defRPr kern="1200"/>
      </a:defPPr>
      <a:lvl1pPr algn="l">
        <a:defRPr sz="1400" kern="1200"/>
      </a:lvl1pPr>
      <a:lvl2pPr algn="l">
        <a:defRPr sz="1400" kern="1200"/>
      </a:lvl2pPr>
      <a:lvl3pPr algn="l">
        <a:defRPr sz="1400" kern="1200"/>
      </a:lvl3pPr>
      <a:lvl4pPr algn="l">
        <a:defRPr sz="1400" kern="1200"/>
      </a:lvl4pPr>
      <a:lvl5pPr algn="l">
        <a:defRPr sz="1400" kern="1200"/>
      </a:lvl5pPr>
      <a:lvl6pPr algn="l">
        <a:defRPr sz="1400" kern="1200"/>
      </a:lvl6pPr>
      <a:lvl7pPr algn="l">
        <a:defRPr sz="1400" kern="1200"/>
      </a:lvl7pPr>
      <a:lvl8pPr algn="l">
        <a:defRPr sz="1400" kern="1200"/>
      </a:lvl8pPr>
      <a:lvl9pPr algn="l">
        <a:defRPr sz="1400" kern="1200"/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543050"/>
          <a:ext cx="8229600" cy="3314700"/>
          <a:chOff x="914400" y="1543050"/>
          <a:chExt cx="8229600" cy="3314700"/>
        </a:xfrm>
      </p:grpSpPr>
      <p:sp>
        <p:nvSpPr>
          <p:cNvPr id="2" name="CaixaDeTexto 1"/>
          <p:cNvSpPr txBox="1"/>
          <p:nvPr/>
        </p:nvSpPr>
        <p:spPr>
          <a:xfrm>
            <a:off x="1828800" y="1543050"/>
            <a:ext cx="5486400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Categorias de Cabos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14400" y="3086100"/>
            <a:ext cx="7315200" cy="2286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none" strike="noStrike" cap="none" spc="0">
                <a:solidFill>
                  <a:srgbClr val="FFAB40">
                    <a:alpha val="100000"/>
                  </a:srgbClr>
                </a:solidFill>
                <a:latin typeface="Calibri"/>
              </a:rPr>
              <a:t>Especificações e Aplicações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800225"/>
          <a:ext cx="8229600" cy="3171825"/>
          <a:chOff x="914400" y="1800225"/>
          <a:chExt cx="8229600" cy="3171825"/>
        </a:xfrm>
      </p:grpSpPr>
      <p:sp>
        <p:nvSpPr>
          <p:cNvPr id="2" name="CaixaDeTexto 1"/>
          <p:cNvSpPr txBox="1"/>
          <p:nvPr/>
        </p:nvSpPr>
        <p:spPr>
          <a:xfrm>
            <a:off x="914400" y="1800225"/>
            <a:ext cx="7315200" cy="13716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Este manual técnico apresenta as várias categorias de cabos de rede, detalhando suas capacidades de transferência de dados e as aplicações recomendadas para cada tipo.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3371850"/>
          <a:chOff x="914400" y="1028700"/>
          <a:chExt cx="8229600" cy="3371850"/>
        </a:xfrm>
      </p:grpSpPr>
      <p:sp>
        <p:nvSpPr>
          <p:cNvPr id="2" name="CaixaDeTexto 1"/>
          <p:cNvSpPr txBox="1"/>
          <p:nvPr/>
        </p:nvSpPr>
        <p:spPr>
          <a:xfrm>
            <a:off x="914400" y="1028700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l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>
                <a:solidFill>
                  <a:srgbClr val="FFAB40">
                    <a:alpha val="100000"/>
                  </a:srgbClr>
                </a:solidFill>
                <a:latin typeface="Calibri"/>
              </a:rPr>
              <a:t>Índice de conteúdo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14400" y="1543050"/>
            <a:ext cx="7315200" cy="18288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Font typeface="Calibri"/>
              <a:buChar char="-"/>
            </a:pPr>
            <a:r>
              <a:rPr lang="en-US" sz="2000" b="1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 Cat5e (Categoria 5e)</a:t>
            </a:r>
          </a:p>
          <a:p>
            <a:pPr marL="0" marR="0" lvl="0" indent="0" algn="l" rtl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Font typeface="Calibri"/>
              <a:buChar char="-"/>
            </a:pPr>
            <a:r>
              <a:rPr lang="en-US" sz="2000" b="1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 Cat6 (Categoria 6)</a:t>
            </a:r>
          </a:p>
          <a:p>
            <a:pPr marL="0" marR="0" lvl="0" indent="0" algn="l" rtl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Font typeface="Calibri"/>
              <a:buChar char="-"/>
            </a:pPr>
            <a:r>
              <a:rPr lang="en-US" sz="2000" b="1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 Cat6a (Categoria 6a)</a:t>
            </a:r>
          </a:p>
          <a:p>
            <a:pPr marL="0" marR="0" lvl="0" indent="0" algn="l" rtl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Font typeface="Calibri"/>
              <a:buChar char="-"/>
            </a:pPr>
            <a:r>
              <a:rPr lang="en-US" sz="2000" b="1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 Cat7 (Categoria 7)</a:t>
            </a:r>
          </a:p>
          <a:p>
            <a:pPr marL="0" marR="0" lvl="0" indent="0" algn="l" rtl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Font typeface="Calibri"/>
              <a:buChar char="-"/>
            </a:pPr>
            <a:r>
              <a:rPr lang="en-US" sz="2000" b="1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 Cat8 (Categoria 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543050"/>
          <a:ext cx="8229600" cy="3162300"/>
          <a:chOff x="914400" y="1543050"/>
          <a:chExt cx="8229600" cy="3162300"/>
        </a:xfrm>
      </p:grpSpPr>
      <p:sp>
        <p:nvSpPr>
          <p:cNvPr id="2" name="CaixaDeTexto 1"/>
          <p:cNvSpPr txBox="1"/>
          <p:nvPr/>
        </p:nvSpPr>
        <p:spPr>
          <a:xfrm>
            <a:off x="914400" y="1543050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l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>
                <a:solidFill>
                  <a:srgbClr val="FFAB40">
                    <a:alpha val="100000"/>
                  </a:srgbClr>
                </a:solidFill>
                <a:latin typeface="Calibri"/>
              </a:rPr>
              <a:t>Cat5e (Categoria 5e)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14400" y="2314575"/>
            <a:ext cx="7315200" cy="847725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Suporta taxas de transferência de até 1 Gbps.
Adequado para redes locais (LANs) e aplicações como VoIP e streaming de vídeo.
Blindagem mínima ou nenhuma.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543050"/>
          <a:ext cx="8229600" cy="3162300"/>
          <a:chOff x="914400" y="1543050"/>
          <a:chExt cx="8229600" cy="3162300"/>
        </a:xfrm>
      </p:grpSpPr>
      <p:sp>
        <p:nvSpPr>
          <p:cNvPr id="2" name="CaixaDeTexto 1"/>
          <p:cNvSpPr txBox="1"/>
          <p:nvPr/>
        </p:nvSpPr>
        <p:spPr>
          <a:xfrm>
            <a:off x="914400" y="1543050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l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>
                <a:solidFill>
                  <a:srgbClr val="FFAB40">
                    <a:alpha val="100000"/>
                  </a:srgbClr>
                </a:solidFill>
                <a:latin typeface="Calibri"/>
              </a:rPr>
              <a:t>Cat6 (Categoria 6)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14400" y="2314575"/>
            <a:ext cx="7315200" cy="847725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Suporte para taxas de transferência de 1 a 10 Gbps a distâncias de até 100 metros.
Melhor desempenho em comparação com o Cat5e.
Uso comum em redes corporativas e residenciais.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543050"/>
          <a:ext cx="8229600" cy="2952750"/>
          <a:chOff x="914400" y="1543050"/>
          <a:chExt cx="8229600" cy="2952750"/>
        </a:xfrm>
      </p:grpSpPr>
      <p:sp>
        <p:nvSpPr>
          <p:cNvPr id="2" name="CaixaDeTexto 1"/>
          <p:cNvSpPr txBox="1"/>
          <p:nvPr/>
        </p:nvSpPr>
        <p:spPr>
          <a:xfrm>
            <a:off x="914400" y="1543050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l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>
                <a:solidFill>
                  <a:srgbClr val="FFAB40">
                    <a:alpha val="100000"/>
                  </a:srgbClr>
                </a:solidFill>
                <a:latin typeface="Calibri"/>
              </a:rPr>
              <a:t>Cat6a (Categoria 6a)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14400" y="2314575"/>
            <a:ext cx="7315200" cy="638175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Suporta taxas de transferência de até 10 Gbps.
Melhor blindagem para minimizar interferências eletromagnéticas.
Adequado para aplicações de alta largura de banda.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543050"/>
          <a:ext cx="8229600" cy="2952750"/>
          <a:chOff x="914400" y="1543050"/>
          <a:chExt cx="8229600" cy="2952750"/>
        </a:xfrm>
      </p:grpSpPr>
      <p:sp>
        <p:nvSpPr>
          <p:cNvPr id="2" name="CaixaDeTexto 1"/>
          <p:cNvSpPr txBox="1"/>
          <p:nvPr/>
        </p:nvSpPr>
        <p:spPr>
          <a:xfrm>
            <a:off x="914400" y="1543050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l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>
                <a:solidFill>
                  <a:srgbClr val="FFAB40">
                    <a:alpha val="100000"/>
                  </a:srgbClr>
                </a:solidFill>
                <a:latin typeface="Calibri"/>
              </a:rPr>
              <a:t>Cat7 (Categoria 7)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14400" y="2314575"/>
            <a:ext cx="7315200" cy="638175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Suporta taxas de 10 a 100 Gbps.
Blindagem avançada para reduzir interferências.
Aplicações em indústrias e data centers.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543050"/>
          <a:ext cx="8229600" cy="2952750"/>
          <a:chOff x="914400" y="1543050"/>
          <a:chExt cx="8229600" cy="2952750"/>
        </a:xfrm>
      </p:grpSpPr>
      <p:sp>
        <p:nvSpPr>
          <p:cNvPr id="2" name="CaixaDeTexto 1"/>
          <p:cNvSpPr txBox="1"/>
          <p:nvPr/>
        </p:nvSpPr>
        <p:spPr>
          <a:xfrm>
            <a:off x="914400" y="1543050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l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>
                <a:solidFill>
                  <a:srgbClr val="FFAB40">
                    <a:alpha val="100000"/>
                  </a:srgbClr>
                </a:solidFill>
                <a:latin typeface="Calibri"/>
              </a:rPr>
              <a:t>Cat8 (Categoria 8)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14400" y="2314575"/>
            <a:ext cx="7315200" cy="638175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Taxas de transferência de até 25 Gbps ou 40 Gbps a distâncias curtas.
Projetado para redes de data centers.
Utiliza conectores RJ45 comuns.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800225"/>
          <a:ext cx="8229600" cy="3171825"/>
          <a:chOff x="914400" y="1800225"/>
          <a:chExt cx="8229600" cy="3171825"/>
        </a:xfrm>
      </p:grpSpPr>
      <p:sp>
        <p:nvSpPr>
          <p:cNvPr id="2" name="CaixaDeTexto 1"/>
          <p:cNvSpPr txBox="1"/>
          <p:nvPr/>
        </p:nvSpPr>
        <p:spPr>
          <a:xfrm>
            <a:off x="914400" y="1800225"/>
            <a:ext cx="7315200" cy="13716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Os cabos de rede variam amplamente em suas capacidades e aplicações, desde o Cat5e, adequado para uso doméstico, até o Cat8, ideal para ambientes de alta velocidade.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828800" y="1028700"/>
          <a:ext cx="7315200" cy="3581400"/>
          <a:chOff x="1828800" y="1028700"/>
          <a:chExt cx="7315200" cy="3581400"/>
        </a:xfrm>
      </p:grpSpPr>
      <p:sp>
        <p:nvSpPr>
          <p:cNvPr id="2" name="CaixaDeTexto 1"/>
          <p:cNvSpPr txBox="1"/>
          <p:nvPr/>
        </p:nvSpPr>
        <p:spPr>
          <a:xfrm>
            <a:off x="1828800" y="1028700"/>
            <a:ext cx="54864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b="1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Obrigado!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828800" y="2619345"/>
            <a:ext cx="54864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u="none" strike="noStrike" cap="none" spc="0" dirty="0">
                <a:solidFill>
                  <a:srgbClr val="FFAB40">
                    <a:alpha val="100000"/>
                  </a:srgbClr>
                </a:solidFill>
                <a:latin typeface="Calibri"/>
              </a:rPr>
              <a:t>Professor César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4">
  <a:themeElements>
    <a:clrScheme name="Theme54">
      <a:dk1>
        <a:sysClr val="windowText" lastClr="000000"/>
      </a:dk1>
      <a:lt1>
        <a:sysClr val="window" lastClr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Theme5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Apresentação na tela (16:9)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Calibri</vt:lpstr>
      <vt:lpstr>Theme54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Prof</cp:lastModifiedBy>
  <cp:revision>1</cp:revision>
  <dcterms:created xsi:type="dcterms:W3CDTF">2024-08-26T16:02:00Z</dcterms:created>
  <dcterms:modified xsi:type="dcterms:W3CDTF">2024-08-26T16:02:54Z</dcterms:modified>
  <cp:category/>
  <cp:contentStatus/>
</cp:coreProperties>
</file>